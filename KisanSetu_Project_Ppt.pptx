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83" r:id="rId2"/>
    <p:sldId id="257" r:id="rId3"/>
    <p:sldId id="282" r:id="rId4"/>
    <p:sldId id="285" r:id="rId5"/>
    <p:sldId id="278" r:id="rId6"/>
    <p:sldId id="264" r:id="rId7"/>
    <p:sldId id="286" r:id="rId8"/>
    <p:sldId id="287" r:id="rId9"/>
    <p:sldId id="280" r:id="rId10"/>
    <p:sldId id="288" r:id="rId11"/>
    <p:sldId id="289" r:id="rId12"/>
    <p:sldId id="27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kkibhoot-29/KisanSetu-Platfor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IBM University Engagement Project Submission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7254" y="2423160"/>
            <a:ext cx="7218451" cy="412421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200" b="1" dirty="0">
                <a:solidFill>
                  <a:srgbClr val="075D2D"/>
                </a:solidFill>
                <a:latin typeface="Arial"/>
              </a:rPr>
              <a:t>“Exploring the Power of Agentic AI with IBM Granite”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46120"/>
            <a:ext cx="10149840" cy="8433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dirty="0">
                <a:solidFill>
                  <a:srgbClr val="12964C"/>
                </a:solidFill>
                <a:latin typeface="Arial"/>
              </a:rPr>
              <a:t>Challenge 13 – AI-Powered Cotton &amp; Groundnut Market Linkage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6908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0" dirty="0">
                <a:solidFill>
                  <a:srgbClr val="5F6964"/>
                </a:solidFill>
                <a:latin typeface="Arial"/>
              </a:rPr>
              <a:t>Domain: Economic Development | Focus: Gujarat Agriculture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438912"/>
            <a:ext cx="10993068" cy="8433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dirty="0">
                <a:solidFill>
                  <a:srgbClr val="000000"/>
                </a:solidFill>
                <a:latin typeface="Arial"/>
              </a:rPr>
              <a:t>Project Title – </a:t>
            </a:r>
            <a:r>
              <a:rPr sz="2500" b="1" dirty="0" err="1">
                <a:solidFill>
                  <a:srgbClr val="000000"/>
                </a:solidFill>
                <a:latin typeface="Arial"/>
              </a:rPr>
              <a:t>KisanSetu</a:t>
            </a:r>
            <a:r>
              <a:rPr sz="2500" b="1" dirty="0">
                <a:solidFill>
                  <a:srgbClr val="000000"/>
                </a:solidFill>
                <a:latin typeface="Arial"/>
              </a:rPr>
              <a:t>: AI-Powered Cotton &amp; Groundnut Market Linkage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2618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Domain of Project – Economic Development / Agriculture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891768"/>
              </p:ext>
            </p:extLst>
          </p:nvPr>
        </p:nvGraphicFramePr>
        <p:xfrm>
          <a:off x="1031682" y="2262204"/>
          <a:ext cx="9418320" cy="203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8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6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67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Student Name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Recent Passport Photo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000000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Mobile number</a:t>
                      </a:r>
                    </a:p>
                    <a:p>
                      <a:r>
                        <a:t>[WhatsApp]</a:t>
                      </a:r>
                    </a:p>
                  </a:txBody>
                  <a:tcPr>
                    <a:solidFill>
                      <a:srgbClr val="4D8E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Nikki Bhoot</a:t>
                      </a:r>
                    </a:p>
                    <a:p>
                      <a:pPr algn="ctr"/>
                      <a:r>
                        <a:rPr lang="en-US" dirty="0"/>
                        <a:t>Hetvi Bhatt</a:t>
                      </a:r>
                    </a:p>
                    <a:p>
                      <a:pPr algn="ctr"/>
                      <a:r>
                        <a:rPr lang="en-US" dirty="0" err="1"/>
                        <a:t>Greshi</a:t>
                      </a:r>
                      <a:r>
                        <a:rPr lang="en-US" dirty="0"/>
                        <a:t> Doshi</a:t>
                      </a:r>
                    </a:p>
                    <a:p>
                      <a:pPr algn="ctr"/>
                      <a:r>
                        <a:rPr lang="en-US" dirty="0"/>
                        <a:t>Grishma Gajera</a:t>
                      </a:r>
                      <a:endParaRPr dirty="0"/>
                    </a:p>
                  </a:txBody>
                  <a:tcPr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92D23"/>
                          </a:solidFill>
                          <a:latin typeface="Arial"/>
                        </a:rPr>
                        <a:t>nikkibhoot29@gmail.com</a:t>
                      </a:r>
                      <a:endParaRPr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rgbClr val="192D23"/>
                          </a:solidFill>
                          <a:latin typeface="Arial"/>
                        </a:rPr>
                        <a:t>8735077730</a:t>
                      </a:r>
                      <a:endParaRPr sz="1600" dirty="0">
                        <a:solidFill>
                          <a:srgbClr val="192D23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461772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>
                <a:solidFill>
                  <a:srgbClr val="5F6964"/>
                </a:solidFill>
                <a:latin typeface="Arial"/>
              </a:rPr>
              <a:t>Recommended font style and size:
Font Style: Arial
Font Size (Heading): 28
Font Size (Content): 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75251-7353-E9AD-9FA4-6E1CF92DD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191" y="3185324"/>
            <a:ext cx="763327" cy="1028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Problem Statement – Challenge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75D2D"/>
                </a:solidFill>
                <a:latin typeface="Arial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199"/>
            <a:ext cx="11366484" cy="99719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Gujarat is a leading producer of cotton and groundnut, but farmers often face price exploitation by middlemen, limited access to real-time mandi prices, and weak bargaining power in direct market linkages.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75D2D"/>
                </a:solidFill>
                <a:latin typeface="Arial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799"/>
            <a:ext cx="11533632" cy="6894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Arial"/>
              </a:rPr>
              <a:t>Build an Agentic AI platform that provides real-time price intelligence, directly connects farmers with buyers, and supports informed selling, storage, quality and income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22191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075D2D"/>
                </a:solidFill>
                <a:latin typeface="Arial"/>
              </a:rPr>
              <a:t>Suggested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Mandi Price Forecasting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Direct Buyer–Farmer Matching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Storage &amp; Selling Timing Advisor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Quality Grading Assistance Agent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Farmer Income Dashboard Agent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Proposed Solution – KisanSetu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18253"/>
            <a:ext cx="8521692" cy="720197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r>
              <a:rPr lang="en-IN" dirty="0" err="1"/>
              <a:t>KisanSetu</a:t>
            </a:r>
            <a:r>
              <a:rPr lang="en-IN" dirty="0"/>
              <a:t> is a multi-agent AI market linkage platform for Gujarat’s cotton and groundnut farmers.</a:t>
            </a:r>
          </a:p>
          <a:p>
            <a:r>
              <a:rPr lang="en-IN" dirty="0"/>
              <a:t> It combines price intelligence, buyer matching, storage/selling advice, quality support and income visibility.</a:t>
            </a:r>
          </a:p>
          <a:p>
            <a:pPr algn="l"/>
            <a:endParaRPr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5884" y="2514600"/>
            <a:ext cx="297180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0475" y="2633472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1. Price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280" y="2944368"/>
            <a:ext cx="2225041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Uses mandi data to show current prices, trends and forecast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0836" y="2514600"/>
            <a:ext cx="297180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5427" y="2633472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2. Direct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911" y="3017520"/>
            <a:ext cx="2642616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Matches farmer listings with buyers using crop, quantity, grade and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884" y="3913632"/>
            <a:ext cx="297180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475" y="4032504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3. Selling +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916" y="4367349"/>
            <a:ext cx="2715768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Advises whether to sell now or store based on price direction and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0836" y="3913632"/>
            <a:ext cx="297180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5427" y="4032504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4. Quality +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5427" y="4367349"/>
            <a:ext cx="2642616" cy="72019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Supports quality grading and converts sales into simple income insights.</a:t>
            </a:r>
          </a:p>
        </p:txBody>
      </p:sp>
      <p:pic>
        <p:nvPicPr>
          <p:cNvPr id="16" name="Picture 15" descr="6fdc5a5f-f533-46bb-87f2-3e32a1a30b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94" y="1738450"/>
            <a:ext cx="5272725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4627" y="63139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0" dirty="0">
                <a:solidFill>
                  <a:srgbClr val="5F6964"/>
                </a:solidFill>
                <a:latin typeface="Arial"/>
              </a:rPr>
              <a:t>Working demo: farmer dashboard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Technology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1806" y="123444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6397" y="135331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IBM BOB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841" y="1737359"/>
            <a:ext cx="5132486" cy="52120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Used as the development / project environment for building and demonstrating the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5638" y="123444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80230" y="135331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IBM Granite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0230" y="1737360"/>
            <a:ext cx="5138929" cy="5047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Provides natural-language understanding, reasoning and agent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806" y="265176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397" y="277063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IBM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54679"/>
            <a:ext cx="4974336" cy="52120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Provides cloud infrastructure for deployment, scalability and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5638" y="2651760"/>
            <a:ext cx="5303520" cy="114300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0230" y="277063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LangFlow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0231" y="3154680"/>
            <a:ext cx="4974336" cy="52120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Visual orchestration of the multi-agent workflow and connected components.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806" y="4069080"/>
            <a:ext cx="5303520" cy="114300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397" y="418795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RAG + Market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398" y="4571999"/>
            <a:ext cx="4974336" cy="521207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Retrieves current / trusted market information before generating useful recommendations.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5638" y="4069080"/>
            <a:ext cx="5303520" cy="114300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0230" y="4187952"/>
            <a:ext cx="49743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React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0231" y="4572000"/>
            <a:ext cx="4974336" cy="52120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192D23"/>
                </a:solidFill>
                <a:latin typeface="Arial"/>
              </a:rPr>
              <a:t>Farmer and buyer portals provide dashboards, listings, prices and AI-assisted decisions.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Role of Agentic AI in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7" y="1142999"/>
            <a:ext cx="11356651" cy="9510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  <a:latin typeface="Arial"/>
              </a:rPr>
              <a:t>Agentic AI enables KisanSetu to act as a goal-driven decision system rather than a simple chatbot. The agents can choose the relevant task, use available market/listing information, reason over the context, and return an actionable recommendation.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514600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2633472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Autonomous Task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40439"/>
            <a:ext cx="2916936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Selects the right specialist agent for the farmer/buyer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3087" y="2514600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79" y="2633472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Context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3017520"/>
            <a:ext cx="2988024" cy="56630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Uses crop, quantity, grade, location and price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514600"/>
            <a:ext cx="324612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633472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Tool + Data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49288"/>
            <a:ext cx="3081528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Retrieves market/listing data before making a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77639"/>
            <a:ext cx="324612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0965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Multi-Agent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68" y="4408985"/>
            <a:ext cx="3170017" cy="56630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Forecasting, matching, storage and quality agents work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3950698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79" y="40965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Actionable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4372608"/>
            <a:ext cx="2988024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Suggests where/when/how to sell, not only market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3977639"/>
            <a:ext cx="3246120" cy="123444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40965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Continuous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403478"/>
            <a:ext cx="2916936" cy="81253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192D23"/>
                </a:solidFill>
                <a:latin typeface="Arial"/>
              </a:rPr>
              <a:t>Keeps the farmer informed through dashboards and AI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Novelty and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64050"/>
            <a:ext cx="11436222" cy="6894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0" dirty="0" err="1">
                <a:solidFill>
                  <a:srgbClr val="000000"/>
                </a:solidFill>
                <a:latin typeface="Arial"/>
              </a:rPr>
              <a:t>KisanSetu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combines Agentic AI, market intelligence and direct market linkage into one farmer-focused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30552"/>
            <a:ext cx="10424160" cy="4343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Multi-Agent Intelligence – specialist agents collaborate instead of relying on one generic chatbot.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Real-Time Price Intelligence – brings mandi prices and trend signals into the farmer decision process.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Direct Buyer–Farmer Matching – matches quantity, crop, grade and price requirements to reduce middlemen dependence.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Selling + Storage Intelligence – supports the decision of selling now versus storing for a better opportunity.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Quality-Aware Recommendations – quality/grade becomes part of price and buyer matching.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Income Visibility – converts crop quantity and sale price into understandable revenue and crop-value insights.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Action-Oriented AI – the system explains what the farmer can do next, not only what the market looks like.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GitHub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100" b="1">
                <a:solidFill>
                  <a:srgbClr val="075D2D"/>
                </a:solidFill>
                <a:latin typeface="Arial"/>
              </a:rPr>
              <a:t>Public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7649658" cy="381643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r>
              <a:rPr sz="2000" b="1" dirty="0">
                <a:solidFill>
                  <a:srgbClr val="4D8EC9"/>
                </a:solidFill>
                <a:latin typeface="Arial"/>
              </a:rPr>
              <a:t>GitHub URL: </a:t>
            </a:r>
            <a:r>
              <a:rPr lang="en-IN" sz="2000" dirty="0">
                <a:hlinkClick r:id="rId3"/>
              </a:rPr>
              <a:t>https://github.com/nikkibhoot-29/KisanSetu-Platform</a:t>
            </a:r>
            <a:r>
              <a:rPr sz="2000" b="1" dirty="0">
                <a:solidFill>
                  <a:srgbClr val="4D8EC9"/>
                </a:solidFill>
                <a:hlinkClick r:id="rId3"/>
              </a:rPr>
              <a:t> </a:t>
            </a:r>
            <a:endParaRPr sz="2000" b="1" dirty="0">
              <a:solidFill>
                <a:srgbClr val="4D8EC9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000000"/>
                </a:solidFill>
                <a:latin typeface="Arial"/>
              </a:rPr>
              <a:t>Repository should contain: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33272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README.md with project overview and setup steps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Source code for frontend / backend / agent workflow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app.json (as required by the submission template)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Problem statement PDF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Final project presentation PPTX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>
                <a:latin typeface="Arial"/>
              </a:rPr>
              <a:t>• Any required configuration / supporting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06440"/>
            <a:ext cx="6857775" cy="320088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r>
              <a:rPr sz="1600" b="0" dirty="0">
                <a:solidFill>
                  <a:srgbClr val="5F6964"/>
                </a:solidFill>
                <a:latin typeface="Arial"/>
              </a:rPr>
              <a:t>Status: </a:t>
            </a:r>
            <a:r>
              <a:rPr lang="en-IN" sz="1600" dirty="0"/>
              <a:t>✅ Repository is public and connected, link added after final push</a:t>
            </a:r>
            <a:r>
              <a:rPr sz="1600" b="0" dirty="0">
                <a:solidFill>
                  <a:srgbClr val="5F6964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120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Live Mandi API Integration – replace simulated data with verified real-time APMC/market feeds.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Advanced Price Forecasting – improve forecasts using historical prices, arrivals, weather and market signals.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WhatsApp / Voice Assistant – allow farmers to ask questions in Gujarati and other Indian languages.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Image-Based Quality Grading – estimate crop quality/grade from uploaded cotton or groundnut images.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Digital Negotiation Support – give buyers and farmers AI-assisted price and quantity negotiation suggestions.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Logistics &amp; Payments – add transport coordination, digital agreements and payment tracking.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Personalized Farmer Memory – remember crop inventory, preferred markets and previous selling decisions with consent.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>
                <a:latin typeface="Arial"/>
              </a:rPr>
              <a:t>• Scalable IBM Cloud Deployment – move from demo mode to production-grade multi-user deployment.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Certificates Earned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5166360" cy="3566160"/>
          </a:xfrm>
          <a:prstGeom prst="roundRect">
            <a:avLst/>
          </a:prstGeom>
          <a:solidFill>
            <a:srgbClr val="E8F8ED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41832" y="1536192"/>
            <a:ext cx="483717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075D2D"/>
                </a:solidFill>
                <a:latin typeface="Arial"/>
              </a:rPr>
              <a:t>Credly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166360" cy="3566160"/>
          </a:xfrm>
          <a:prstGeom prst="roundRect">
            <a:avLst/>
          </a:prstGeom>
          <a:solidFill>
            <a:srgbClr val="FFF8DE"/>
          </a:solidFill>
          <a:ln>
            <a:solidFill>
              <a:srgbClr val="CAE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37176" cy="310896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825C08"/>
                </a:solidFill>
                <a:latin typeface="Arial"/>
              </a:rPr>
              <a:t>Team / Participation Certificate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6ED5F1-37A2-5C29-C296-EC750877F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48" y="1847088"/>
            <a:ext cx="4038843" cy="30429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5180FC-CD95-24DC-DDBB-F02B0A1A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175" y="1847088"/>
            <a:ext cx="4729850" cy="291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Certificates Earned – IBM BOB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039633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400" b="1" dirty="0">
                <a:solidFill>
                  <a:srgbClr val="075D2D"/>
                </a:solidFill>
                <a:latin typeface="Arial"/>
              </a:rPr>
              <a:t>IBM BOB Certificate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3050" y="2027584"/>
            <a:ext cx="6920556" cy="4333460"/>
          </a:xfrm>
          <a:prstGeom prst="rect">
            <a:avLst/>
          </a:prstGeom>
          <a:solidFill>
            <a:srgbClr val="F2F4F3"/>
          </a:solidFill>
          <a:ln>
            <a:solidFill>
              <a:srgbClr val="B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03920" cy="1097280"/>
          </a:xfrm>
          <a:prstGeom prst="rect">
            <a:avLst/>
          </a:prstGeom>
          <a:noFill/>
          <a:ln>
            <a:noFill/>
          </a:ln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lang="en-IN" sz="2500" b="1" dirty="0">
                <a:solidFill>
                  <a:srgbClr val="5F6964"/>
                </a:solidFill>
                <a:latin typeface="Arial"/>
              </a:rPr>
              <a:t>CERTIFICATE IMAGE
PLACEHOLDER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1F0C54-BE3F-1322-982A-B98A5E2CB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29" y="1641943"/>
            <a:ext cx="7716741" cy="483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928</Words>
  <Application>Microsoft Office PowerPoint</Application>
  <PresentationFormat>Widescreen</PresentationFormat>
  <Paragraphs>103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nikki bhoot</cp:lastModifiedBy>
  <cp:revision>18</cp:revision>
  <dcterms:created xsi:type="dcterms:W3CDTF">2025-07-08T05:06:56Z</dcterms:created>
  <dcterms:modified xsi:type="dcterms:W3CDTF">2026-09-13T10:21:55Z</dcterms:modified>
</cp:coreProperties>
</file>